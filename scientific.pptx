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32"/>
    <p:restoredTop sz="95859"/>
  </p:normalViewPr>
  <p:slideViewPr>
    <p:cSldViewPr snapToGrid="0" snapToObjects="1">
      <p:cViewPr>
        <p:scale>
          <a:sx n="107" d="100"/>
          <a:sy n="107" d="100"/>
        </p:scale>
        <p:origin x="10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36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 the lifecycle = cheaper to fix. The three approaches are complementary, not competing.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1732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Demographic Dynamics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Scientific and Large Data 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Emilia Sobolewska M.712854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Question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1732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91347" y="10789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Europe growing or shrinking- and when did it start?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91347" y="1572663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Which European countries are naturally shrinking today?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732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1347" y="209439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When did a country tip from growth to natural decline?</a:t>
            </a:r>
          </a:p>
        </p:txBody>
      </p:sp>
      <p:sp>
        <p:nvSpPr>
          <p:cNvPr id="13" name="Text 11"/>
          <p:cNvSpPr/>
          <p:nvPr/>
        </p:nvSpPr>
        <p:spPr>
          <a:xfrm>
            <a:off x="141732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91347" y="2566101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How steep is the demographic slope?</a:t>
            </a:r>
          </a:p>
        </p:txBody>
      </p:sp>
      <p:sp>
        <p:nvSpPr>
          <p:cNvPr id="17" name="Text 15"/>
          <p:cNvSpPr/>
          <p:nvPr/>
        </p:nvSpPr>
        <p:spPr>
          <a:xfrm>
            <a:off x="1191347" y="30906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Is it fewer births or more deaths?</a:t>
            </a:r>
          </a:p>
        </p:txBody>
      </p:sp>
      <p:sp>
        <p:nvSpPr>
          <p:cNvPr id="19" name="Text 17"/>
          <p:cNvSpPr/>
          <p:nvPr/>
        </p:nvSpPr>
        <p:spPr>
          <a:xfrm>
            <a:off x="14173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91347" y="35844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How does the country stack up against its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2" name="Text 20"/>
          <p:cNvSpPr/>
          <p:nvPr/>
        </p:nvSpPr>
        <p:spPr>
          <a:xfrm>
            <a:off x="1417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91347" y="4054681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Poland – Natural Change Rate - 2020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9ED442-EEDB-0314-329F-21378F20B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28455"/>
            <a:ext cx="7772400" cy="3975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C31F43-D524-2B75-53BE-AEB8A1BF385A}"/>
              </a:ext>
            </a:extLst>
          </p:cNvPr>
          <p:cNvSpPr txBox="1"/>
          <p:nvPr/>
        </p:nvSpPr>
        <p:spPr>
          <a:xfrm>
            <a:off x="2286000" y="23917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PL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D9EDD1-0C1D-DACC-62CA-1D0A04FE3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67" y="1230072"/>
            <a:ext cx="4376110" cy="26833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F3FE06-C41B-FBE1-4380-4CDCF60E0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340" y="1245425"/>
            <a:ext cx="4308231" cy="2652649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AAD6D0F3-95E6-F5C7-97E4-43029D296DAD}"/>
              </a:ext>
            </a:extLst>
          </p:cNvPr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Poland – Natural Change Rate – 1960 vs 2020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910D16E-9053-34F9-C482-80B3BC424128}"/>
              </a:ext>
            </a:extLst>
          </p:cNvPr>
          <p:cNvSpPr/>
          <p:nvPr/>
        </p:nvSpPr>
        <p:spPr>
          <a:xfrm>
            <a:off x="161566" y="3944152"/>
            <a:ext cx="8699205" cy="790916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9F5AE9-FC47-1E82-0293-251E0E1BC75E}"/>
              </a:ext>
            </a:extLst>
          </p:cNvPr>
          <p:cNvSpPr/>
          <p:nvPr/>
        </p:nvSpPr>
        <p:spPr>
          <a:xfrm>
            <a:off x="5471210" y="1195754"/>
            <a:ext cx="274320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512F32-0556-8F2E-0324-4AE3EE595C41}"/>
              </a:ext>
            </a:extLst>
          </p:cNvPr>
          <p:cNvSpPr/>
          <p:nvPr/>
        </p:nvSpPr>
        <p:spPr>
          <a:xfrm>
            <a:off x="929592" y="1195754"/>
            <a:ext cx="274320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9AED67EC-DCD2-5D63-1020-D5EAEFC1D424}"/>
              </a:ext>
            </a:extLst>
          </p:cNvPr>
          <p:cNvSpPr/>
          <p:nvPr/>
        </p:nvSpPr>
        <p:spPr>
          <a:xfrm>
            <a:off x="609600" y="4084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is NCR declining?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83E512-9B2B-FEC7-4CF4-71894347C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66" y="1636774"/>
            <a:ext cx="4279252" cy="21351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016F18-77EF-BCE4-0391-675286A45156}"/>
              </a:ext>
            </a:extLst>
          </p:cNvPr>
          <p:cNvSpPr txBox="1"/>
          <p:nvPr/>
        </p:nvSpPr>
        <p:spPr>
          <a:xfrm>
            <a:off x="1197630" y="1199348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Crude Birth Rate · Poland · 2020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4AAB603-B324-15E2-AE02-EE50BBA61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184" y="1636774"/>
            <a:ext cx="4188945" cy="21351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CDC962F-BA3B-C2D5-B141-A9DC497BA106}"/>
              </a:ext>
            </a:extLst>
          </p:cNvPr>
          <p:cNvSpPr txBox="1"/>
          <p:nvPr/>
        </p:nvSpPr>
        <p:spPr>
          <a:xfrm>
            <a:off x="5739248" y="1211253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Crude Death Rate · Poland · 2020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F84F21-39ED-8D97-24A0-C1F657C24B76}"/>
              </a:ext>
            </a:extLst>
          </p:cNvPr>
          <p:cNvSpPr txBox="1"/>
          <p:nvPr/>
        </p:nvSpPr>
        <p:spPr>
          <a:xfrm>
            <a:off x="283229" y="3944152"/>
            <a:ext cx="86088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 rate: ~25 per 1000 in 1960  →  9.5 in 2020      </a:t>
            </a:r>
            <a:endParaRPr lang="en-GB" sz="1400" dirty="0">
              <a:solidFill>
                <a:srgbClr val="1E29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4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Death rate: ~8 in 1960  →  12.7 in 2020  (COVID spike)
Conclusion: the decline is driven by collapsing births,  not rising mortality.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0497CA1D-FCF2-323E-B4F2-ED11812E92BE}"/>
              </a:ext>
            </a:extLst>
          </p:cNvPr>
          <p:cNvSpPr/>
          <p:nvPr/>
        </p:nvSpPr>
        <p:spPr>
          <a:xfrm>
            <a:off x="609600" y="4084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Decisions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F9F32-C319-8E1E-F052-404F0DA172CE}"/>
              </a:ext>
            </a:extLst>
          </p:cNvPr>
          <p:cNvSpPr/>
          <p:nvPr/>
        </p:nvSpPr>
        <p:spPr>
          <a:xfrm>
            <a:off x="448886" y="1371600"/>
            <a:ext cx="3967547" cy="3363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5251DB-6C4D-95DA-CD90-B928C8F819FE}"/>
              </a:ext>
            </a:extLst>
          </p:cNvPr>
          <p:cNvSpPr/>
          <p:nvPr/>
        </p:nvSpPr>
        <p:spPr>
          <a:xfrm>
            <a:off x="4763786" y="1389413"/>
            <a:ext cx="3967546" cy="3363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97FB1D-0630-952B-B767-61275C5665BE}"/>
              </a:ext>
            </a:extLst>
          </p:cNvPr>
          <p:cNvSpPr txBox="1"/>
          <p:nvPr/>
        </p:nvSpPr>
        <p:spPr>
          <a:xfrm>
            <a:off x="548640" y="146304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1D4FFD-C4DD-5D92-880D-BD42E49E19E5}"/>
              </a:ext>
            </a:extLst>
          </p:cNvPr>
          <p:cNvSpPr txBox="1"/>
          <p:nvPr/>
        </p:nvSpPr>
        <p:spPr>
          <a:xfrm>
            <a:off x="548640" y="192024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Red–Yellow–Green for Natural Change Rate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B05652-C541-4EBC-F22B-53FFB4767457}"/>
              </a:ext>
            </a:extLst>
          </p:cNvPr>
          <p:cNvSpPr txBox="1"/>
          <p:nvPr/>
        </p:nvSpPr>
        <p:spPr>
          <a:xfrm>
            <a:off x="548640" y="22585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D3BC8C-8D84-1F3F-11F1-0CED99B6E902}"/>
              </a:ext>
            </a:extLst>
          </p:cNvPr>
          <p:cNvSpPr txBox="1"/>
          <p:nvPr/>
        </p:nvSpPr>
        <p:spPr>
          <a:xfrm>
            <a:off x="548640" y="2281091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Symmetric: ±5 are equally far from balance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97760A-537A-D499-C35B-5A0CE4D8C879}"/>
              </a:ext>
            </a:extLst>
          </p:cNvPr>
          <p:cNvSpPr txBox="1"/>
          <p:nvPr/>
        </p:nvSpPr>
        <p:spPr>
          <a:xfrm>
            <a:off x="609600" y="2602344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Green = growth  /  Red = decline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B3D445-92D9-227E-816B-1617B735790F}"/>
              </a:ext>
            </a:extLst>
          </p:cNvPr>
          <p:cNvSpPr txBox="1"/>
          <p:nvPr/>
        </p:nvSpPr>
        <p:spPr>
          <a:xfrm>
            <a:off x="548640" y="39502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5523A2-4894-3BDF-85F9-29ADD8AF2B72}"/>
              </a:ext>
            </a:extLst>
          </p:cNvPr>
          <p:cNvSpPr txBox="1"/>
          <p:nvPr/>
        </p:nvSpPr>
        <p:spPr>
          <a:xfrm>
            <a:off x="548640" y="3135964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 for Birth Rate  (sequential: more = darker)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ADA58E-F510-FEAC-2F0D-5D1648C071C7}"/>
              </a:ext>
            </a:extLst>
          </p:cNvPr>
          <p:cNvSpPr txBox="1"/>
          <p:nvPr/>
        </p:nvSpPr>
        <p:spPr>
          <a:xfrm>
            <a:off x="548640" y="3545713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Reds for Death Rate  (sequential: more = darker)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8FD505-A2A5-590B-77FE-EE2648856142}"/>
              </a:ext>
            </a:extLst>
          </p:cNvPr>
          <p:cNvSpPr txBox="1"/>
          <p:nvPr/>
        </p:nvSpPr>
        <p:spPr>
          <a:xfrm>
            <a:off x="4936572" y="146304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5C66E2-ADEE-B2A8-B129-80DD3622AAB2}"/>
              </a:ext>
            </a:extLst>
          </p:cNvPr>
          <p:cNvSpPr txBox="1"/>
          <p:nvPr/>
        </p:nvSpPr>
        <p:spPr>
          <a:xfrm>
            <a:off x="4936572" y="192024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Choropleth map  →  WHERE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6B3552-26BE-4317-C9A5-F69F1DB956D1}"/>
              </a:ext>
            </a:extLst>
          </p:cNvPr>
          <p:cNvSpPr txBox="1"/>
          <p:nvPr/>
        </p:nvSpPr>
        <p:spPr>
          <a:xfrm>
            <a:off x="4936572" y="225856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Spatial question answered </a:t>
            </a:r>
            <a:r>
              <a:rPr lang="pl-PL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quickly</a:t>
            </a:r>
            <a:endParaRPr sz="13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665C4F-D542-2CD3-E810-15163CA4EADB}"/>
              </a:ext>
            </a:extLst>
          </p:cNvPr>
          <p:cNvSpPr txBox="1"/>
          <p:nvPr/>
        </p:nvSpPr>
        <p:spPr>
          <a:xfrm>
            <a:off x="4936572" y="2596896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Natural Earth: no size distortion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15AB62-EE38-C70B-BCB5-DBD558D91523}"/>
              </a:ext>
            </a:extLst>
          </p:cNvPr>
          <p:cNvSpPr txBox="1"/>
          <p:nvPr/>
        </p:nvSpPr>
        <p:spPr>
          <a:xfrm>
            <a:off x="4936572" y="2935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6EA347-FAE3-90B6-7BD2-BED6F2086BD4}"/>
              </a:ext>
            </a:extLst>
          </p:cNvPr>
          <p:cNvSpPr txBox="1"/>
          <p:nvPr/>
        </p:nvSpPr>
        <p:spPr>
          <a:xfrm>
            <a:off x="4936572" y="3036107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chart  →  WHEN + HOW FAST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467F44-DA93-F8BC-0FB2-31BB00A25354}"/>
              </a:ext>
            </a:extLst>
          </p:cNvPr>
          <p:cNvSpPr txBox="1"/>
          <p:nvPr/>
        </p:nvSpPr>
        <p:spPr>
          <a:xfrm>
            <a:off x="4936572" y="339695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Green above / red below zero: crossing visible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735E9D-F837-C941-2F2E-48585F514077}"/>
              </a:ext>
            </a:extLst>
          </p:cNvPr>
          <p:cNvSpPr txBox="1"/>
          <p:nvPr/>
        </p:nvSpPr>
        <p:spPr>
          <a:xfrm>
            <a:off x="4936572" y="42885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261043-9671-B13E-0B3B-68C438895E0E}"/>
              </a:ext>
            </a:extLst>
          </p:cNvPr>
          <p:cNvSpPr txBox="1"/>
          <p:nvPr/>
        </p:nvSpPr>
        <p:spPr>
          <a:xfrm>
            <a:off x="4936572" y="381759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5-yr moving average  →  TREND vs NOISE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C80195-51F1-A3FE-413C-CC7DA3263B87}"/>
              </a:ext>
            </a:extLst>
          </p:cNvPr>
          <p:cNvSpPr txBox="1"/>
          <p:nvPr/>
        </p:nvSpPr>
        <p:spPr>
          <a:xfrm>
            <a:off x="4936572" y="415774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Smooths COVID spikes, economic shocks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AFB675-513E-C1E7-59BD-5438892F9885}"/>
              </a:ext>
            </a:extLst>
          </p:cNvPr>
          <p:cNvSpPr txBox="1"/>
          <p:nvPr/>
        </p:nvSpPr>
        <p:spPr>
          <a:xfrm>
            <a:off x="4936572" y="441819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Standard in demography literature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179451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2E7D4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L"/>
          </a:p>
        </p:txBody>
      </p:sp>
      <p:sp>
        <p:nvSpPr>
          <p:cNvPr id="4" name="Text 2"/>
          <p:cNvSpPr/>
          <p:nvPr/>
        </p:nvSpPr>
        <p:spPr>
          <a:xfrm>
            <a:off x="365760" y="179451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4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770632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Choropleth –geoNaturalErth1 </a:t>
            </a:r>
            <a:r>
              <a:rPr lang="en-US" sz="1400" dirty="0" err="1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TopoJSON</a:t>
            </a: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GISCO 2024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55264" y="179451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8791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L"/>
          </a:p>
        </p:txBody>
      </p:sp>
      <p:sp>
        <p:nvSpPr>
          <p:cNvPr id="7" name="Text 5"/>
          <p:cNvSpPr/>
          <p:nvPr/>
        </p:nvSpPr>
        <p:spPr>
          <a:xfrm>
            <a:off x="3223260" y="179451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791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 Chart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46704" y="2770632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Area chart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5- year moving average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36208" y="179451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F5C99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L"/>
          </a:p>
        </p:txBody>
      </p:sp>
      <p:sp>
        <p:nvSpPr>
          <p:cNvPr id="10" name="Text 8"/>
          <p:cNvSpPr/>
          <p:nvPr/>
        </p:nvSpPr>
        <p:spPr>
          <a:xfrm>
            <a:off x="6204204" y="179451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36208" y="2770632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slider 1960-2024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search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 radio list</a:t>
            </a:r>
          </a:p>
        </p:txBody>
      </p:sp>
      <p:sp>
        <p:nvSpPr>
          <p:cNvPr id="12" name="Text 10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0E3B318A-7812-63B4-14AF-6C6C72A055EB}"/>
              </a:ext>
            </a:extLst>
          </p:cNvPr>
          <p:cNvSpPr/>
          <p:nvPr/>
        </p:nvSpPr>
        <p:spPr>
          <a:xfrm>
            <a:off x="609600" y="4084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Coordinated Multiple 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097F01D-F495-22C5-83B2-C09954B2DA61}"/>
              </a:ext>
            </a:extLst>
          </p:cNvPr>
          <p:cNvSpPr/>
          <p:nvPr/>
        </p:nvSpPr>
        <p:spPr>
          <a:xfrm>
            <a:off x="61722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Eurostat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56B701-9A95-85EA-0CE1-11876B3CF939}"/>
              </a:ext>
            </a:extLst>
          </p:cNvPr>
          <p:cNvSpPr/>
          <p:nvPr/>
        </p:nvSpPr>
        <p:spPr>
          <a:xfrm>
            <a:off x="138941" y="1376172"/>
            <a:ext cx="2286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DF844C-BB7A-189D-3509-6C14706229F8}"/>
              </a:ext>
            </a:extLst>
          </p:cNvPr>
          <p:cNvSpPr txBox="1"/>
          <p:nvPr/>
        </p:nvSpPr>
        <p:spPr>
          <a:xfrm>
            <a:off x="276101" y="1449324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C38839-3D7C-3444-AFC8-979887A822F4}"/>
              </a:ext>
            </a:extLst>
          </p:cNvPr>
          <p:cNvSpPr/>
          <p:nvPr/>
        </p:nvSpPr>
        <p:spPr>
          <a:xfrm>
            <a:off x="2424941" y="1376172"/>
            <a:ext cx="6537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515C1B-D9CC-5125-5AD7-D3D6117F13CE}"/>
              </a:ext>
            </a:extLst>
          </p:cNvPr>
          <p:cNvSpPr txBox="1"/>
          <p:nvPr/>
        </p:nvSpPr>
        <p:spPr>
          <a:xfrm>
            <a:off x="2514600" y="1448997"/>
            <a:ext cx="8869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Eurostat (EU statistical office) · </a:t>
            </a:r>
            <a:r>
              <a:rPr sz="1300" b="0" i="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demo_gind</a:t>
            </a:r>
            <a:r>
              <a:rPr sz="13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42BEC7-BCCC-48E2-6011-25988133A47D}"/>
              </a:ext>
            </a:extLst>
          </p:cNvPr>
          <p:cNvSpPr/>
          <p:nvPr/>
        </p:nvSpPr>
        <p:spPr>
          <a:xfrm>
            <a:off x="138941" y="2107692"/>
            <a:ext cx="2286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DA59DA-5F76-40F3-EAAB-1D0290D3B0B6}"/>
              </a:ext>
            </a:extLst>
          </p:cNvPr>
          <p:cNvSpPr txBox="1"/>
          <p:nvPr/>
        </p:nvSpPr>
        <p:spPr>
          <a:xfrm>
            <a:off x="276101" y="2180844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7BBE93-A025-020F-F8F3-28658D4345AE}"/>
              </a:ext>
            </a:extLst>
          </p:cNvPr>
          <p:cNvSpPr/>
          <p:nvPr/>
        </p:nvSpPr>
        <p:spPr>
          <a:xfrm>
            <a:off x="2424941" y="2107692"/>
            <a:ext cx="6537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188B77-350F-05D0-5BC4-9394360D988D}"/>
              </a:ext>
            </a:extLst>
          </p:cNvPr>
          <p:cNvSpPr txBox="1"/>
          <p:nvPr/>
        </p:nvSpPr>
        <p:spPr>
          <a:xfrm>
            <a:off x="2514600" y="2215716"/>
            <a:ext cx="8869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JSON-stat · fetched via Eurostat REST API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D179D2-0640-50DB-5BBC-7E39B0B28291}"/>
              </a:ext>
            </a:extLst>
          </p:cNvPr>
          <p:cNvSpPr/>
          <p:nvPr/>
        </p:nvSpPr>
        <p:spPr>
          <a:xfrm>
            <a:off x="138941" y="2839212"/>
            <a:ext cx="2286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A6B575-BCFA-7C3B-7016-A28619CF970D}"/>
              </a:ext>
            </a:extLst>
          </p:cNvPr>
          <p:cNvSpPr txBox="1"/>
          <p:nvPr/>
        </p:nvSpPr>
        <p:spPr>
          <a:xfrm>
            <a:off x="276101" y="2912364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34DD2B-F785-E426-D5B4-BDB956A77039}"/>
              </a:ext>
            </a:extLst>
          </p:cNvPr>
          <p:cNvSpPr/>
          <p:nvPr/>
        </p:nvSpPr>
        <p:spPr>
          <a:xfrm>
            <a:off x="2424941" y="2839212"/>
            <a:ext cx="6537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270DAE-798B-0006-3514-34FABED329B9}"/>
              </a:ext>
            </a:extLst>
          </p:cNvPr>
          <p:cNvSpPr txBox="1"/>
          <p:nvPr/>
        </p:nvSpPr>
        <p:spPr>
          <a:xfrm>
            <a:off x="2562101" y="2946874"/>
            <a:ext cx="634182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 European countries · 1960 – 2024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C3181F-9D3A-A66F-51D1-65531B602D61}"/>
              </a:ext>
            </a:extLst>
          </p:cNvPr>
          <p:cNvSpPr/>
          <p:nvPr/>
        </p:nvSpPr>
        <p:spPr>
          <a:xfrm>
            <a:off x="138941" y="3570732"/>
            <a:ext cx="2286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D23438-B8A7-60EB-AA60-65521DACFBE5}"/>
              </a:ext>
            </a:extLst>
          </p:cNvPr>
          <p:cNvSpPr txBox="1"/>
          <p:nvPr/>
        </p:nvSpPr>
        <p:spPr>
          <a:xfrm>
            <a:off x="276101" y="3643884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3245732-62BC-C3B6-C778-3DD5539CD797}"/>
              </a:ext>
            </a:extLst>
          </p:cNvPr>
          <p:cNvSpPr/>
          <p:nvPr/>
        </p:nvSpPr>
        <p:spPr>
          <a:xfrm>
            <a:off x="2424941" y="3570732"/>
            <a:ext cx="6537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DD5744-132C-0D09-EB9B-880070D3FD74}"/>
              </a:ext>
            </a:extLst>
          </p:cNvPr>
          <p:cNvSpPr txBox="1"/>
          <p:nvPr/>
        </p:nvSpPr>
        <p:spPr>
          <a:xfrm>
            <a:off x="2514600" y="3675668"/>
            <a:ext cx="8869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Change Rate · Crude Birth Rate · Crude Death Rate · Population · Live Births · Deaths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you!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4736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382</Words>
  <Application>Microsoft Macintosh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Broken Object Level Authorization (BOLA) in REST APIs</dc:title>
  <dc:subject>PptxGenJS Presentation</dc:subject>
  <dc:creator>Emilia Sobolewska</dc:creator>
  <cp:lastModifiedBy>Emilia Sobolewska (266846)</cp:lastModifiedBy>
  <cp:revision>4</cp:revision>
  <dcterms:created xsi:type="dcterms:W3CDTF">2026-06-11T09:37:25Z</dcterms:created>
  <dcterms:modified xsi:type="dcterms:W3CDTF">2026-07-06T05:38:45Z</dcterms:modified>
</cp:coreProperties>
</file>