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2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9969"/>
    <p:restoredTop sz="57722"/>
  </p:normalViewPr>
  <p:slideViewPr>
    <p:cSldViewPr snapToGrid="0" snapToObjects="1">
      <p:cViewPr>
        <p:scale>
          <a:sx n="107" d="100"/>
          <a:sy n="107" d="100"/>
        </p:scale>
        <p:origin x="144" y="-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83621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="0" i="0" dirty="0">
                <a:solidFill>
                  <a:srgbClr val="BCBEC4"/>
                </a:solidFill>
                <a:effectLst/>
                <a:latin typeface="Helvetica" pitchFamily="2" charset="0"/>
              </a:rPr>
              <a:t>Let's look at Poland specifically. The chart shows the full 60-year journey."</a:t>
            </a:r>
            <a:br>
              <a:rPr lang="en-GB" dirty="0"/>
            </a:br>
            <a:r>
              <a:rPr lang="en-GB" b="0" i="0" dirty="0">
                <a:solidFill>
                  <a:srgbClr val="BCBEC4"/>
                </a:solidFill>
                <a:effectLst/>
                <a:latin typeface="Helvetica" pitchFamily="2" charset="0"/>
              </a:rPr>
              <a:t>"In 1960, Poland had 15 more births per 1,000 people than deaths — a massive natural surplus. The chart is solid green above zero."</a:t>
            </a:r>
            <a:br>
              <a:rPr lang="en-GB" dirty="0"/>
            </a:br>
            <a:r>
              <a:rPr lang="en-GB" b="0" i="0" dirty="0">
                <a:solidFill>
                  <a:srgbClr val="BCBEC4"/>
                </a:solidFill>
                <a:effectLst/>
                <a:latin typeface="Helvetica" pitchFamily="2" charset="0"/>
              </a:rPr>
              <a:t>"Then watch the slope. Through the 1980s and 90s, births fell. The country crossed zero around 2002. Now it's at -3.30 — natural decline."</a:t>
            </a:r>
            <a:br>
              <a:rPr lang="en-GB" dirty="0"/>
            </a:br>
            <a:r>
              <a:rPr lang="en-GB" b="0" i="0" dirty="0">
                <a:solidFill>
                  <a:srgbClr val="BCBEC4"/>
                </a:solidFill>
                <a:effectLst/>
                <a:latin typeface="Helvetica" pitchFamily="2" charset="0"/>
              </a:rPr>
              <a:t>"The purple line is a 5-year moving average. It smooths out noise — COVID spikes, economic shocks — and shows the real underlying trend. And the trend has been downward for 40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="0" i="0" dirty="0">
                <a:solidFill>
                  <a:srgbClr val="BCBEC4"/>
                </a:solidFill>
                <a:effectLst/>
                <a:latin typeface="Helvetica" pitchFamily="2" charset="0"/>
              </a:rPr>
              <a:t>Let's rewind 60 years. Watch the map."</a:t>
            </a:r>
            <a:br>
              <a:rPr lang="en-GB" dirty="0"/>
            </a:br>
            <a:br>
              <a:rPr lang="en-GB" dirty="0"/>
            </a:br>
            <a:r>
              <a:rPr lang="en-GB" b="0" i="0" dirty="0">
                <a:solidFill>
                  <a:srgbClr val="BCBEC4"/>
                </a:solidFill>
                <a:effectLst/>
                <a:latin typeface="Helvetica" pitchFamily="2" charset="0"/>
              </a:rPr>
              <a:t>"In 1960, natural growth was positive almost everywhere. Birth rates were high. The baby boom was real. Something changed — and this visualization lets us see exactly what, and where, and when.</a:t>
            </a:r>
          </a:p>
          <a:p>
            <a:endParaRPr lang="en-GB" b="0" i="0" dirty="0">
              <a:solidFill>
                <a:srgbClr val="BCBEC4"/>
              </a:solidFill>
              <a:effectLst/>
              <a:latin typeface="Helvetica" pitchFamily="2" charset="0"/>
            </a:endParaRPr>
          </a:p>
          <a:p>
            <a:r>
              <a:rPr lang="en-GB" b="0" i="0" dirty="0">
                <a:solidFill>
                  <a:srgbClr val="BCBEC4"/>
                </a:solidFill>
                <a:effectLst/>
                <a:latin typeface="Helvetica" pitchFamily="2" charset="0"/>
              </a:rPr>
              <a:t>Poland is not alone. Here are its </a:t>
            </a:r>
            <a:r>
              <a:rPr lang="en-GB" b="0" i="0" dirty="0" err="1">
                <a:solidFill>
                  <a:srgbClr val="BCBEC4"/>
                </a:solidFill>
                <a:effectLst/>
                <a:latin typeface="Helvetica" pitchFamily="2" charset="0"/>
              </a:rPr>
              <a:t>neighbors</a:t>
            </a:r>
            <a:r>
              <a:rPr lang="en-GB" b="0" i="0" dirty="0">
                <a:solidFill>
                  <a:srgbClr val="BCBEC4"/>
                </a:solidFill>
                <a:effectLst/>
                <a:latin typeface="Helvetica" pitchFamily="2" charset="0"/>
              </a:rPr>
              <a:t> — Czechia, Slovakia, Hungary, Slovenia. All of them show the same red downward sparklines. This is a Central European demographic story, not a uniquely Polish one."</a:t>
            </a:r>
            <a:br>
              <a:rPr lang="en-GB" dirty="0"/>
            </a:br>
            <a:r>
              <a:rPr lang="en-GB" b="0" i="0" dirty="0">
                <a:solidFill>
                  <a:srgbClr val="BCBEC4"/>
                </a:solidFill>
                <a:effectLst/>
                <a:latin typeface="Helvetica" pitchFamily="2" charset="0"/>
              </a:rPr>
              <a:t>"You can click any country in this list to switch your selection instantly."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="0" i="0" dirty="0">
                <a:solidFill>
                  <a:srgbClr val="BCBEC4"/>
                </a:solidFill>
                <a:effectLst/>
                <a:latin typeface="Helvetica" pitchFamily="2" charset="0"/>
              </a:rPr>
              <a:t>Why is natural growth declining? There are only two components: births and deaths."</a:t>
            </a:r>
            <a:br>
              <a:rPr lang="en-GB" dirty="0"/>
            </a:br>
            <a:r>
              <a:rPr lang="en-GB" b="0" i="1" dirty="0">
                <a:solidFill>
                  <a:srgbClr val="BCBEC4"/>
                </a:solidFill>
                <a:effectLst/>
                <a:latin typeface="Helvetica" pitchFamily="2" charset="0"/>
              </a:rPr>
              <a:t>(switch to Crude Birth Rate)</a:t>
            </a:r>
            <a:br>
              <a:rPr lang="en-GB" dirty="0"/>
            </a:br>
            <a:r>
              <a:rPr lang="en-GB" b="0" i="0" dirty="0">
                <a:solidFill>
                  <a:srgbClr val="BCBEC4"/>
                </a:solidFill>
                <a:effectLst/>
                <a:latin typeface="Helvetica" pitchFamily="2" charset="0"/>
              </a:rPr>
              <a:t>"Birth rate in Poland: from ~20 per 1,000 in 1960 to around 9 today. Cut in half."</a:t>
            </a:r>
            <a:br>
              <a:rPr lang="en-GB" dirty="0"/>
            </a:br>
            <a:r>
              <a:rPr lang="en-GB" b="0" i="1" dirty="0">
                <a:solidFill>
                  <a:srgbClr val="BCBEC4"/>
                </a:solidFill>
                <a:effectLst/>
                <a:latin typeface="Helvetica" pitchFamily="2" charset="0"/>
              </a:rPr>
              <a:t>(switch to Crude Death Rate)</a:t>
            </a:r>
            <a:br>
              <a:rPr lang="en-GB" dirty="0"/>
            </a:br>
            <a:r>
              <a:rPr lang="en-GB" b="0" i="0" dirty="0">
                <a:solidFill>
                  <a:srgbClr val="BCBEC4"/>
                </a:solidFill>
                <a:effectLst/>
                <a:latin typeface="Helvetica" pitchFamily="2" charset="0"/>
              </a:rPr>
              <a:t>"Death rate: relatively stable, around 10–11 per 1,000. Hasn't changed dramatically."</a:t>
            </a:r>
            <a:br>
              <a:rPr lang="en-GB" dirty="0"/>
            </a:br>
            <a:r>
              <a:rPr lang="en-GB" b="0" i="0" dirty="0">
                <a:solidFill>
                  <a:srgbClr val="BCBEC4"/>
                </a:solidFill>
                <a:effectLst/>
                <a:latin typeface="Helvetica" pitchFamily="2" charset="0"/>
              </a:rPr>
              <a:t>"So the decline is driven almost entirely by collapsing birth rates, not rising mortality. That's the story.</a:t>
            </a:r>
          </a:p>
          <a:p>
            <a:endParaRPr lang="en-GB" b="0" i="0" dirty="0">
              <a:solidFill>
                <a:srgbClr val="BCBEC4"/>
              </a:solidFill>
              <a:effectLst/>
              <a:latin typeface="Helvetica" pitchFamily="2" charset="0"/>
            </a:endParaRPr>
          </a:p>
          <a:p>
            <a:endParaRPr lang="en-GB" b="0" i="0" dirty="0">
              <a:solidFill>
                <a:srgbClr val="BCBEC4"/>
              </a:solidFill>
              <a:effectLst/>
              <a:latin typeface="Helvetica" pitchFamily="2" charset="0"/>
            </a:endParaRPr>
          </a:p>
          <a:p>
            <a:pPr algn="l"/>
            <a:r>
              <a:rPr lang="en-GB" b="0" i="0" dirty="0">
                <a:solidFill>
                  <a:srgbClr val="BCBEC4"/>
                </a:solidFill>
                <a:effectLst/>
                <a:latin typeface="Helvetica" pitchFamily="2" charset="0"/>
              </a:rPr>
              <a:t>This visualization was built to answer five specific questions about European demographics:"</a:t>
            </a:r>
          </a:p>
          <a:p>
            <a:pPr algn="l">
              <a:buFont typeface="+mj-lt"/>
              <a:buAutoNum type="arabicPeriod"/>
            </a:pPr>
            <a:r>
              <a:rPr lang="en-GB" b="1" i="0" dirty="0">
                <a:solidFill>
                  <a:srgbClr val="BCBEC4"/>
                </a:solidFill>
                <a:effectLst/>
                <a:latin typeface="Helvetica" pitchFamily="2" charset="0"/>
              </a:rPr>
              <a:t>WHERE</a:t>
            </a:r>
            <a:r>
              <a:rPr lang="en-GB" b="0" i="0" dirty="0">
                <a:solidFill>
                  <a:srgbClr val="BCBEC4"/>
                </a:solidFill>
                <a:effectLst/>
                <a:latin typeface="Helvetica" pitchFamily="2" charset="0"/>
              </a:rPr>
              <a:t> is natural decline happening? → the choropleth map</a:t>
            </a:r>
          </a:p>
          <a:p>
            <a:pPr algn="l">
              <a:buFont typeface="+mj-lt"/>
              <a:buAutoNum type="arabicPeriod"/>
            </a:pPr>
            <a:r>
              <a:rPr lang="en-GB" b="1" i="0" dirty="0">
                <a:solidFill>
                  <a:srgbClr val="BCBEC4"/>
                </a:solidFill>
                <a:effectLst/>
                <a:latin typeface="Helvetica" pitchFamily="2" charset="0"/>
              </a:rPr>
              <a:t>WHEN</a:t>
            </a:r>
            <a:r>
              <a:rPr lang="en-GB" b="0" i="0" dirty="0">
                <a:solidFill>
                  <a:srgbClr val="BCBEC4"/>
                </a:solidFill>
                <a:effectLst/>
                <a:latin typeface="Helvetica" pitchFamily="2" charset="0"/>
              </a:rPr>
              <a:t> did a country tip from growth to decline? → the zero-crossing in the area chart</a:t>
            </a:r>
          </a:p>
          <a:p>
            <a:pPr algn="l">
              <a:buFont typeface="+mj-lt"/>
              <a:buAutoNum type="arabicPeriod"/>
            </a:pPr>
            <a:r>
              <a:rPr lang="en-GB" b="1" i="0" dirty="0">
                <a:solidFill>
                  <a:srgbClr val="BCBEC4"/>
                </a:solidFill>
                <a:effectLst/>
                <a:latin typeface="Helvetica" pitchFamily="2" charset="0"/>
              </a:rPr>
              <a:t>HOW FAST</a:t>
            </a:r>
            <a:r>
              <a:rPr lang="en-GB" b="0" i="0" dirty="0">
                <a:solidFill>
                  <a:srgbClr val="BCBEC4"/>
                </a:solidFill>
                <a:effectLst/>
                <a:latin typeface="Helvetica" pitchFamily="2" charset="0"/>
              </a:rPr>
              <a:t> is the trend? → the slope of the moving average</a:t>
            </a:r>
          </a:p>
          <a:p>
            <a:pPr algn="l">
              <a:buFont typeface="+mj-lt"/>
              <a:buAutoNum type="arabicPeriod"/>
            </a:pPr>
            <a:r>
              <a:rPr lang="en-GB" b="1" i="0" dirty="0">
                <a:solidFill>
                  <a:srgbClr val="BCBEC4"/>
                </a:solidFill>
                <a:effectLst/>
                <a:latin typeface="Helvetica" pitchFamily="2" charset="0"/>
              </a:rPr>
              <a:t>WHAT IS DRIVING IT</a:t>
            </a:r>
            <a:r>
              <a:rPr lang="en-GB" b="0" i="0" dirty="0">
                <a:solidFill>
                  <a:srgbClr val="BCBEC4"/>
                </a:solidFill>
                <a:effectLst/>
                <a:latin typeface="Helvetica" pitchFamily="2" charset="0"/>
              </a:rPr>
              <a:t> — births or deaths? → switching indicators</a:t>
            </a:r>
          </a:p>
          <a:p>
            <a:pPr algn="l">
              <a:buFont typeface="+mj-lt"/>
              <a:buAutoNum type="arabicPeriod"/>
            </a:pPr>
            <a:r>
              <a:rPr lang="en-GB" b="1" i="0" dirty="0">
                <a:solidFill>
                  <a:srgbClr val="BCBEC4"/>
                </a:solidFill>
                <a:effectLst/>
                <a:latin typeface="Helvetica" pitchFamily="2" charset="0"/>
              </a:rPr>
              <a:t>HOW DOES MY COUNTRY COMPARE</a:t>
            </a:r>
            <a:r>
              <a:rPr lang="en-GB" b="0" i="0" dirty="0">
                <a:solidFill>
                  <a:srgbClr val="BCBEC4"/>
                </a:solidFill>
                <a:effectLst/>
                <a:latin typeface="Helvetica" pitchFamily="2" charset="0"/>
              </a:rPr>
              <a:t> to its </a:t>
            </a:r>
            <a:r>
              <a:rPr lang="en-GB" b="0" i="0" dirty="0" err="1">
                <a:solidFill>
                  <a:srgbClr val="BCBEC4"/>
                </a:solidFill>
                <a:effectLst/>
                <a:latin typeface="Helvetica" pitchFamily="2" charset="0"/>
              </a:rPr>
              <a:t>neighbors</a:t>
            </a:r>
            <a:r>
              <a:rPr lang="en-GB" b="0" i="0" dirty="0">
                <a:solidFill>
                  <a:srgbClr val="BCBEC4"/>
                </a:solidFill>
                <a:effectLst/>
                <a:latin typeface="Helvetica" pitchFamily="2" charset="0"/>
              </a:rPr>
              <a:t>? → the sparkline panel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in the lifecycle = cheaper to fix. The three approaches are complementary, not competing.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41732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F5C9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Demographic Dynamics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292608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A1A1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Scientific and Large Data Visualization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1600" dirty="0">
                <a:solidFill>
                  <a:srgbClr val="1A1A1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Emilia Sobolewska M.712854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641080" y="473659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472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1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1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Research Question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417320" y="1097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191347" y="1078992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B2B2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Is Europe growing or shrinking- and when did it start? </a:t>
            </a:r>
            <a:endParaRPr 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417320" y="16002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91347" y="1572663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2B2B2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1. Which European countries are naturally shrinking today?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417320" y="2103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91347" y="2094396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When did a country tip from growth to natural decline?</a:t>
            </a:r>
          </a:p>
        </p:txBody>
      </p:sp>
      <p:sp>
        <p:nvSpPr>
          <p:cNvPr id="13" name="Text 11"/>
          <p:cNvSpPr/>
          <p:nvPr/>
        </p:nvSpPr>
        <p:spPr>
          <a:xfrm>
            <a:off x="1417320" y="2606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91347" y="2566101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How steep is the demographic slope?</a:t>
            </a:r>
          </a:p>
        </p:txBody>
      </p:sp>
      <p:sp>
        <p:nvSpPr>
          <p:cNvPr id="17" name="Text 15"/>
          <p:cNvSpPr/>
          <p:nvPr/>
        </p:nvSpPr>
        <p:spPr>
          <a:xfrm>
            <a:off x="1191347" y="3090672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Is it fewer births or more deaths?</a:t>
            </a:r>
          </a:p>
        </p:txBody>
      </p:sp>
      <p:sp>
        <p:nvSpPr>
          <p:cNvPr id="19" name="Text 17"/>
          <p:cNvSpPr/>
          <p:nvPr/>
        </p:nvSpPr>
        <p:spPr>
          <a:xfrm>
            <a:off x="141732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91347" y="358444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How does the country stack up against its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neighbours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</p:txBody>
      </p:sp>
      <p:sp>
        <p:nvSpPr>
          <p:cNvPr id="22" name="Text 20"/>
          <p:cNvSpPr/>
          <p:nvPr/>
        </p:nvSpPr>
        <p:spPr>
          <a:xfrm>
            <a:off x="1417320" y="4114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91347" y="4054681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641080" y="473659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472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2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1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Poland – Natural Change Rate - 2020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8641080" y="473659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472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3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49ED442-EEDB-0314-329F-21378F20B9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828455"/>
            <a:ext cx="7772400" cy="39757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8641080" y="473659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472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4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C31F43-D524-2B75-53BE-AEB8A1BF385A}"/>
              </a:ext>
            </a:extLst>
          </p:cNvPr>
          <p:cNvSpPr txBox="1"/>
          <p:nvPr/>
        </p:nvSpPr>
        <p:spPr>
          <a:xfrm>
            <a:off x="2286000" y="2391718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lang="en-PL" b="0" i="0" dirty="0">
              <a:solidFill>
                <a:srgbClr val="000000"/>
              </a:solidFill>
              <a:effectLst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D9EDD1-0C1D-DACC-62CA-1D0A04FE39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167" y="1230072"/>
            <a:ext cx="4376110" cy="26833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7F3FE06-C41B-FBE1-4380-4CDCF60E04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2340" y="1245425"/>
            <a:ext cx="4308231" cy="2652649"/>
          </a:xfrm>
          <a:prstGeom prst="rect">
            <a:avLst/>
          </a:prstGeom>
        </p:spPr>
      </p:pic>
      <p:sp>
        <p:nvSpPr>
          <p:cNvPr id="10" name="Text 0">
            <a:extLst>
              <a:ext uri="{FF2B5EF4-FFF2-40B4-BE49-F238E27FC236}">
                <a16:creationId xmlns:a16="http://schemas.microsoft.com/office/drawing/2014/main" id="{AAD6D0F3-95E6-F5C7-97E4-43029D296DAD}"/>
              </a:ext>
            </a:extLst>
          </p:cNvPr>
          <p:cNvSpPr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1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Poland – Natural Change Rate – 1960 vs 2020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B910D16E-9053-34F9-C482-80B3BC424128}"/>
              </a:ext>
            </a:extLst>
          </p:cNvPr>
          <p:cNvSpPr/>
          <p:nvPr/>
        </p:nvSpPr>
        <p:spPr>
          <a:xfrm>
            <a:off x="161566" y="3944152"/>
            <a:ext cx="8699205" cy="790916"/>
          </a:xfrm>
          <a:prstGeom prst="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99F5AE9-FC47-1E82-0293-251E0E1BC75E}"/>
              </a:ext>
            </a:extLst>
          </p:cNvPr>
          <p:cNvSpPr/>
          <p:nvPr/>
        </p:nvSpPr>
        <p:spPr>
          <a:xfrm>
            <a:off x="5471210" y="1195754"/>
            <a:ext cx="2743200" cy="2926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F512F32-0556-8F2E-0324-4AE3EE595C41}"/>
              </a:ext>
            </a:extLst>
          </p:cNvPr>
          <p:cNvSpPr/>
          <p:nvPr/>
        </p:nvSpPr>
        <p:spPr>
          <a:xfrm>
            <a:off x="929592" y="1195754"/>
            <a:ext cx="2743200" cy="2926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 17"/>
          <p:cNvSpPr/>
          <p:nvPr/>
        </p:nvSpPr>
        <p:spPr>
          <a:xfrm>
            <a:off x="8641080" y="473659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>
                <a:solidFill>
                  <a:srgbClr val="5A6472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5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0">
            <a:extLst>
              <a:ext uri="{FF2B5EF4-FFF2-40B4-BE49-F238E27FC236}">
                <a16:creationId xmlns:a16="http://schemas.microsoft.com/office/drawing/2014/main" id="{9AED67EC-DCD2-5D63-1020-D5EAEFC1D424}"/>
              </a:ext>
            </a:extLst>
          </p:cNvPr>
          <p:cNvSpPr/>
          <p:nvPr/>
        </p:nvSpPr>
        <p:spPr>
          <a:xfrm>
            <a:off x="609600" y="408432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1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Why is NCR declining?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D83E512-9B2B-FEC7-4CF4-71894347C1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566" y="1636774"/>
            <a:ext cx="4279252" cy="213512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9016F18-77EF-BCE4-0391-675286A45156}"/>
              </a:ext>
            </a:extLst>
          </p:cNvPr>
          <p:cNvSpPr txBox="1"/>
          <p:nvPr/>
        </p:nvSpPr>
        <p:spPr>
          <a:xfrm>
            <a:off x="1197630" y="1199348"/>
            <a:ext cx="2743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Crude Birth Rate · Poland · 2020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4AAB603-B324-15E2-AE02-EE50BBA615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3184" y="1636774"/>
            <a:ext cx="4188945" cy="213512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3CDC962F-BA3B-C2D5-B141-A9DC497BA106}"/>
              </a:ext>
            </a:extLst>
          </p:cNvPr>
          <p:cNvSpPr txBox="1"/>
          <p:nvPr/>
        </p:nvSpPr>
        <p:spPr>
          <a:xfrm>
            <a:off x="5739248" y="1211253"/>
            <a:ext cx="2743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Crude Death Rate · Poland · 2020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AF84F21-39ED-8D97-24A0-C1F657C24B76}"/>
              </a:ext>
            </a:extLst>
          </p:cNvPr>
          <p:cNvSpPr txBox="1"/>
          <p:nvPr/>
        </p:nvSpPr>
        <p:spPr>
          <a:xfrm>
            <a:off x="283229" y="3944152"/>
            <a:ext cx="860889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1400" b="0" i="0" dirty="0">
                <a:solidFill>
                  <a:srgbClr val="1E29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Birth rate: ~25 per 1000 in 1960  →  9.5 in 2020      </a:t>
            </a:r>
            <a:endParaRPr lang="en-GB" sz="1400" dirty="0">
              <a:solidFill>
                <a:srgbClr val="1E293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1400" b="0" i="0" dirty="0">
                <a:solidFill>
                  <a:srgbClr val="1E29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Death rate: ~8 in 1960  →  12.7 in 2020  (COVID spike)
Conclusion: the decline is driven by collapsing births,  not rising mortality.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22"/>
          <p:cNvSpPr/>
          <p:nvPr/>
        </p:nvSpPr>
        <p:spPr>
          <a:xfrm>
            <a:off x="640080" y="406908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641080" y="473659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472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6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0">
            <a:extLst>
              <a:ext uri="{FF2B5EF4-FFF2-40B4-BE49-F238E27FC236}">
                <a16:creationId xmlns:a16="http://schemas.microsoft.com/office/drawing/2014/main" id="{0497CA1D-FCF2-323E-B4F2-ED11812E92BE}"/>
              </a:ext>
            </a:extLst>
          </p:cNvPr>
          <p:cNvSpPr/>
          <p:nvPr/>
        </p:nvSpPr>
        <p:spPr>
          <a:xfrm>
            <a:off x="609600" y="408432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1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Design Decisions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48F9F32-C319-8E1E-F052-404F0DA172CE}"/>
              </a:ext>
            </a:extLst>
          </p:cNvPr>
          <p:cNvSpPr/>
          <p:nvPr/>
        </p:nvSpPr>
        <p:spPr>
          <a:xfrm>
            <a:off x="448886" y="1371600"/>
            <a:ext cx="3967547" cy="33634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65251DB-6C4D-95DA-CD90-B928C8F819FE}"/>
              </a:ext>
            </a:extLst>
          </p:cNvPr>
          <p:cNvSpPr/>
          <p:nvPr/>
        </p:nvSpPr>
        <p:spPr>
          <a:xfrm>
            <a:off x="4763786" y="1389413"/>
            <a:ext cx="3967546" cy="33634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797FB1D-0630-952B-B767-61275C5665BE}"/>
              </a:ext>
            </a:extLst>
          </p:cNvPr>
          <p:cNvSpPr txBox="1"/>
          <p:nvPr/>
        </p:nvSpPr>
        <p:spPr>
          <a:xfrm>
            <a:off x="548640" y="1463040"/>
            <a:ext cx="49377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COLORS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91D4FFD-C4DD-5D92-880D-BD42E49E19E5}"/>
              </a:ext>
            </a:extLst>
          </p:cNvPr>
          <p:cNvSpPr txBox="1"/>
          <p:nvPr/>
        </p:nvSpPr>
        <p:spPr>
          <a:xfrm>
            <a:off x="548640" y="1920240"/>
            <a:ext cx="49377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1E29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Red–Yellow–Green for Natural Change Rate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2B05652-C541-4EBC-F22B-53FFB4767457}"/>
              </a:ext>
            </a:extLst>
          </p:cNvPr>
          <p:cNvSpPr txBox="1"/>
          <p:nvPr/>
        </p:nvSpPr>
        <p:spPr>
          <a:xfrm>
            <a:off x="548640" y="2258568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2D3BC8C-8D84-1F3F-11F1-0CED99B6E902}"/>
              </a:ext>
            </a:extLst>
          </p:cNvPr>
          <p:cNvSpPr txBox="1"/>
          <p:nvPr/>
        </p:nvSpPr>
        <p:spPr>
          <a:xfrm>
            <a:off x="548640" y="2281091"/>
            <a:ext cx="49377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1E29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  Symmetric: ±5 are equally far from balance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597760A-537A-D499-C35B-5A0CE4D8C879}"/>
              </a:ext>
            </a:extLst>
          </p:cNvPr>
          <p:cNvSpPr txBox="1"/>
          <p:nvPr/>
        </p:nvSpPr>
        <p:spPr>
          <a:xfrm>
            <a:off x="609600" y="2602344"/>
            <a:ext cx="49377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1E29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  Green = growth  /  Red = decline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1B3D445-92D9-227E-816B-1617B735790F}"/>
              </a:ext>
            </a:extLst>
          </p:cNvPr>
          <p:cNvSpPr txBox="1"/>
          <p:nvPr/>
        </p:nvSpPr>
        <p:spPr>
          <a:xfrm>
            <a:off x="548640" y="3950208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A5523A2-4894-3BDF-85F9-29ADD8AF2B72}"/>
              </a:ext>
            </a:extLst>
          </p:cNvPr>
          <p:cNvSpPr txBox="1"/>
          <p:nvPr/>
        </p:nvSpPr>
        <p:spPr>
          <a:xfrm>
            <a:off x="548640" y="3135964"/>
            <a:ext cx="49377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1E29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Blues for Birth Rate  (sequential: more = darker)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AADA58E-F510-FEAC-2F0D-5D1648C071C7}"/>
              </a:ext>
            </a:extLst>
          </p:cNvPr>
          <p:cNvSpPr txBox="1"/>
          <p:nvPr/>
        </p:nvSpPr>
        <p:spPr>
          <a:xfrm>
            <a:off x="548640" y="3545713"/>
            <a:ext cx="49377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1E29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Reds for Death Rate  (sequential: more = darker)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88FD505-A2A5-590B-77FE-EE2648856142}"/>
              </a:ext>
            </a:extLst>
          </p:cNvPr>
          <p:cNvSpPr txBox="1"/>
          <p:nvPr/>
        </p:nvSpPr>
        <p:spPr>
          <a:xfrm>
            <a:off x="4936572" y="1463040"/>
            <a:ext cx="5212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CHARTS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65C66E2-ADEE-B2A8-B129-80DD3622AAB2}"/>
              </a:ext>
            </a:extLst>
          </p:cNvPr>
          <p:cNvSpPr txBox="1"/>
          <p:nvPr/>
        </p:nvSpPr>
        <p:spPr>
          <a:xfrm>
            <a:off x="4936572" y="1920240"/>
            <a:ext cx="5212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1E29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Choropleth map  →  WHERE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6B3552-26BE-4317-C9A5-F69F1DB956D1}"/>
              </a:ext>
            </a:extLst>
          </p:cNvPr>
          <p:cNvSpPr txBox="1"/>
          <p:nvPr/>
        </p:nvSpPr>
        <p:spPr>
          <a:xfrm>
            <a:off x="4936572" y="2258568"/>
            <a:ext cx="52120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 Spatial question answered </a:t>
            </a:r>
            <a:r>
              <a:rPr lang="pl-PL" sz="1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quickly</a:t>
            </a:r>
            <a:endParaRPr sz="1300" b="0" i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4665C4F-D542-2CD3-E810-15163CA4EADB}"/>
              </a:ext>
            </a:extLst>
          </p:cNvPr>
          <p:cNvSpPr txBox="1"/>
          <p:nvPr/>
        </p:nvSpPr>
        <p:spPr>
          <a:xfrm>
            <a:off x="4936572" y="2596896"/>
            <a:ext cx="52120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 Natural Earth: no size distortion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215AB62-EE38-C70B-BCB5-DBD558D91523}"/>
              </a:ext>
            </a:extLst>
          </p:cNvPr>
          <p:cNvSpPr txBox="1"/>
          <p:nvPr/>
        </p:nvSpPr>
        <p:spPr>
          <a:xfrm>
            <a:off x="4936572" y="293522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96EA347-FAE3-90B6-7BD2-BED6F2086BD4}"/>
              </a:ext>
            </a:extLst>
          </p:cNvPr>
          <p:cNvSpPr txBox="1"/>
          <p:nvPr/>
        </p:nvSpPr>
        <p:spPr>
          <a:xfrm>
            <a:off x="4936572" y="3036107"/>
            <a:ext cx="5212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1E29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Area chart  →  WHEN + HOW FAST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0467F44-DA93-F8BC-0FB2-31BB00A25354}"/>
              </a:ext>
            </a:extLst>
          </p:cNvPr>
          <p:cNvSpPr txBox="1"/>
          <p:nvPr/>
        </p:nvSpPr>
        <p:spPr>
          <a:xfrm>
            <a:off x="4936572" y="3396958"/>
            <a:ext cx="52120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 Green above / red below zero: crossing visible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1735E9D-F837-C941-2F2E-48585F514077}"/>
              </a:ext>
            </a:extLst>
          </p:cNvPr>
          <p:cNvSpPr txBox="1"/>
          <p:nvPr/>
        </p:nvSpPr>
        <p:spPr>
          <a:xfrm>
            <a:off x="4936572" y="428853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9261043-9671-B13E-0B3B-68C438895E0E}"/>
              </a:ext>
            </a:extLst>
          </p:cNvPr>
          <p:cNvSpPr txBox="1"/>
          <p:nvPr/>
        </p:nvSpPr>
        <p:spPr>
          <a:xfrm>
            <a:off x="4936572" y="3817590"/>
            <a:ext cx="5212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1E29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5-yr moving average  →  TREND vs NOISE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5C80195-51F1-A3FE-413C-CC7DA3263B87}"/>
              </a:ext>
            </a:extLst>
          </p:cNvPr>
          <p:cNvSpPr txBox="1"/>
          <p:nvPr/>
        </p:nvSpPr>
        <p:spPr>
          <a:xfrm>
            <a:off x="4936572" y="4157740"/>
            <a:ext cx="52120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 Smooths COVID spikes, economic shocks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9AFB675-513E-C1E7-59BD-5438892F9885}"/>
              </a:ext>
            </a:extLst>
          </p:cNvPr>
          <p:cNvSpPr txBox="1"/>
          <p:nvPr/>
        </p:nvSpPr>
        <p:spPr>
          <a:xfrm>
            <a:off x="4936572" y="4418190"/>
            <a:ext cx="52120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 Standard in demography literature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365760" y="1794510"/>
            <a:ext cx="269748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2E7D46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PL"/>
          </a:p>
        </p:txBody>
      </p:sp>
      <p:sp>
        <p:nvSpPr>
          <p:cNvPr id="4" name="Text 2"/>
          <p:cNvSpPr/>
          <p:nvPr/>
        </p:nvSpPr>
        <p:spPr>
          <a:xfrm>
            <a:off x="365760" y="1794510"/>
            <a:ext cx="2697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4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Map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2770632"/>
            <a:ext cx="25146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Choropleth –geoNaturalErth1 </a:t>
            </a:r>
            <a:r>
              <a:rPr lang="en-US" sz="1400" dirty="0" err="1">
                <a:solidFill>
                  <a:srgbClr val="2B2B2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TopoJSON</a:t>
            </a:r>
            <a:r>
              <a:rPr lang="en-US" sz="1400" dirty="0">
                <a:solidFill>
                  <a:srgbClr val="2B2B2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GISCO 2024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255264" y="1794510"/>
            <a:ext cx="269748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B8791C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PL"/>
          </a:p>
        </p:txBody>
      </p:sp>
      <p:sp>
        <p:nvSpPr>
          <p:cNvPr id="7" name="Text 5"/>
          <p:cNvSpPr/>
          <p:nvPr/>
        </p:nvSpPr>
        <p:spPr>
          <a:xfrm>
            <a:off x="3223260" y="1794510"/>
            <a:ext cx="2697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8791C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Line Chart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3346704" y="2770632"/>
            <a:ext cx="25146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Area chart </a:t>
            </a:r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5- year moving average</a:t>
            </a:r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236208" y="1794510"/>
            <a:ext cx="269748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F5C99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PL"/>
          </a:p>
        </p:txBody>
      </p:sp>
      <p:sp>
        <p:nvSpPr>
          <p:cNvPr id="10" name="Text 8"/>
          <p:cNvSpPr/>
          <p:nvPr/>
        </p:nvSpPr>
        <p:spPr>
          <a:xfrm>
            <a:off x="6204204" y="1794510"/>
            <a:ext cx="2697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5C9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Controls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236208" y="2770632"/>
            <a:ext cx="25146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Year slider 1960-2024</a:t>
            </a:r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Country search </a:t>
            </a:r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Indicator radio list</a:t>
            </a:r>
          </a:p>
        </p:txBody>
      </p:sp>
      <p:sp>
        <p:nvSpPr>
          <p:cNvPr id="12" name="Text 10"/>
          <p:cNvSpPr/>
          <p:nvPr/>
        </p:nvSpPr>
        <p:spPr>
          <a:xfrm>
            <a:off x="8641080" y="473659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472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7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0">
            <a:extLst>
              <a:ext uri="{FF2B5EF4-FFF2-40B4-BE49-F238E27FC236}">
                <a16:creationId xmlns:a16="http://schemas.microsoft.com/office/drawing/2014/main" id="{0E3B318A-7812-63B4-14AF-6C6C72A055EB}"/>
              </a:ext>
            </a:extLst>
          </p:cNvPr>
          <p:cNvSpPr/>
          <p:nvPr/>
        </p:nvSpPr>
        <p:spPr>
          <a:xfrm>
            <a:off x="609600" y="408432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1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Coordinated Multiple View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7"/>
          <p:cNvSpPr/>
          <p:nvPr/>
        </p:nvSpPr>
        <p:spPr>
          <a:xfrm>
            <a:off x="8641080" y="473659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472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8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0">
            <a:extLst>
              <a:ext uri="{FF2B5EF4-FFF2-40B4-BE49-F238E27FC236}">
                <a16:creationId xmlns:a16="http://schemas.microsoft.com/office/drawing/2014/main" id="{C097F01D-F495-22C5-83B2-C09954B2DA61}"/>
              </a:ext>
            </a:extLst>
          </p:cNvPr>
          <p:cNvSpPr/>
          <p:nvPr/>
        </p:nvSpPr>
        <p:spPr>
          <a:xfrm>
            <a:off x="61722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1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Eurostat data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656B701-9A95-85EA-0CE1-11876B3CF939}"/>
              </a:ext>
            </a:extLst>
          </p:cNvPr>
          <p:cNvSpPr/>
          <p:nvPr/>
        </p:nvSpPr>
        <p:spPr>
          <a:xfrm>
            <a:off x="138941" y="1376172"/>
            <a:ext cx="228600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DF844C-BB7A-189D-3509-6C14706229F8}"/>
              </a:ext>
            </a:extLst>
          </p:cNvPr>
          <p:cNvSpPr txBox="1"/>
          <p:nvPr/>
        </p:nvSpPr>
        <p:spPr>
          <a:xfrm>
            <a:off x="276101" y="1449324"/>
            <a:ext cx="21031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Source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DC38839-3D7C-3444-AFC8-979887A822F4}"/>
              </a:ext>
            </a:extLst>
          </p:cNvPr>
          <p:cNvSpPr/>
          <p:nvPr/>
        </p:nvSpPr>
        <p:spPr>
          <a:xfrm>
            <a:off x="2424941" y="1376172"/>
            <a:ext cx="65379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4515C1B-D9CC-5125-5AD7-D3D6117F13CE}"/>
              </a:ext>
            </a:extLst>
          </p:cNvPr>
          <p:cNvSpPr txBox="1"/>
          <p:nvPr/>
        </p:nvSpPr>
        <p:spPr>
          <a:xfrm>
            <a:off x="2514600" y="1448997"/>
            <a:ext cx="88696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1E29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Eurostat (EU statistical office) · </a:t>
            </a:r>
            <a:r>
              <a:rPr sz="1300" b="0" i="0" dirty="0" err="1">
                <a:solidFill>
                  <a:srgbClr val="1E29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demo_gind</a:t>
            </a:r>
            <a:r>
              <a:rPr sz="1300" b="0" i="0" dirty="0">
                <a:solidFill>
                  <a:srgbClr val="1E29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table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C42BEC7-BCCC-48E2-6011-25988133A47D}"/>
              </a:ext>
            </a:extLst>
          </p:cNvPr>
          <p:cNvSpPr/>
          <p:nvPr/>
        </p:nvSpPr>
        <p:spPr>
          <a:xfrm>
            <a:off x="138941" y="2107692"/>
            <a:ext cx="228600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4DA59DA-5F76-40F3-EAAB-1D0290D3B0B6}"/>
              </a:ext>
            </a:extLst>
          </p:cNvPr>
          <p:cNvSpPr txBox="1"/>
          <p:nvPr/>
        </p:nvSpPr>
        <p:spPr>
          <a:xfrm>
            <a:off x="276101" y="2180844"/>
            <a:ext cx="21031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Format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17BBE93-A025-020F-F8F3-28658D4345AE}"/>
              </a:ext>
            </a:extLst>
          </p:cNvPr>
          <p:cNvSpPr/>
          <p:nvPr/>
        </p:nvSpPr>
        <p:spPr>
          <a:xfrm>
            <a:off x="2424941" y="2107692"/>
            <a:ext cx="65379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4188B77-350F-05D0-5BC4-9394360D988D}"/>
              </a:ext>
            </a:extLst>
          </p:cNvPr>
          <p:cNvSpPr txBox="1"/>
          <p:nvPr/>
        </p:nvSpPr>
        <p:spPr>
          <a:xfrm>
            <a:off x="2514600" y="2215716"/>
            <a:ext cx="88696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1E29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JSON-stat · fetched via Eurostat REST API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2D179D2-0640-50DB-5BBC-7E39B0B28291}"/>
              </a:ext>
            </a:extLst>
          </p:cNvPr>
          <p:cNvSpPr/>
          <p:nvPr/>
        </p:nvSpPr>
        <p:spPr>
          <a:xfrm>
            <a:off x="138941" y="2839212"/>
            <a:ext cx="228600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AA6B575-BCFA-7C3B-7016-A28619CF970D}"/>
              </a:ext>
            </a:extLst>
          </p:cNvPr>
          <p:cNvSpPr txBox="1"/>
          <p:nvPr/>
        </p:nvSpPr>
        <p:spPr>
          <a:xfrm>
            <a:off x="276101" y="2912364"/>
            <a:ext cx="21031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Coverage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B34DD2B-F785-E426-D5B4-BDB956A77039}"/>
              </a:ext>
            </a:extLst>
          </p:cNvPr>
          <p:cNvSpPr/>
          <p:nvPr/>
        </p:nvSpPr>
        <p:spPr>
          <a:xfrm>
            <a:off x="2424941" y="2839212"/>
            <a:ext cx="65379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8270DAE-798B-0006-3514-34FABED329B9}"/>
              </a:ext>
            </a:extLst>
          </p:cNvPr>
          <p:cNvSpPr txBox="1"/>
          <p:nvPr/>
        </p:nvSpPr>
        <p:spPr>
          <a:xfrm>
            <a:off x="2562101" y="2946874"/>
            <a:ext cx="634182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1E29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42 European countries · 1960 – 2024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DC3181F-9D3A-A66F-51D1-65531B602D61}"/>
              </a:ext>
            </a:extLst>
          </p:cNvPr>
          <p:cNvSpPr/>
          <p:nvPr/>
        </p:nvSpPr>
        <p:spPr>
          <a:xfrm>
            <a:off x="138941" y="3570732"/>
            <a:ext cx="228600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ED23438-B8A7-60EB-AA60-65521DACFBE5}"/>
              </a:ext>
            </a:extLst>
          </p:cNvPr>
          <p:cNvSpPr txBox="1"/>
          <p:nvPr/>
        </p:nvSpPr>
        <p:spPr>
          <a:xfrm>
            <a:off x="276101" y="3643884"/>
            <a:ext cx="21031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Indicators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3245732-62BC-C3B6-C778-3DD5539CD797}"/>
              </a:ext>
            </a:extLst>
          </p:cNvPr>
          <p:cNvSpPr/>
          <p:nvPr/>
        </p:nvSpPr>
        <p:spPr>
          <a:xfrm>
            <a:off x="2424941" y="3570732"/>
            <a:ext cx="65379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FDD5744-132C-0D09-EB9B-880070D3FD74}"/>
              </a:ext>
            </a:extLst>
          </p:cNvPr>
          <p:cNvSpPr txBox="1"/>
          <p:nvPr/>
        </p:nvSpPr>
        <p:spPr>
          <a:xfrm>
            <a:off x="2514600" y="3675668"/>
            <a:ext cx="88696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1E29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Natural Change Rate · Crude Birth Rate · Crude Death Rate · Population · Live Births · Deaths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1F5C9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Thank you!</a:t>
            </a:r>
            <a:endParaRPr lang="en-US" sz="4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641080" y="473659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472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17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</TotalTime>
  <Words>777</Words>
  <Application>Microsoft Macintosh PowerPoint</Application>
  <PresentationFormat>On-screen Show (16:9)</PresentationFormat>
  <Paragraphs>90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Helvetica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Broken Object Level Authorization (BOLA) in REST APIs</dc:title>
  <dc:subject>PptxGenJS Presentation</dc:subject>
  <dc:creator>Emilia Sobolewska</dc:creator>
  <cp:lastModifiedBy>Emilia Sobolewska (266846)</cp:lastModifiedBy>
  <cp:revision>5</cp:revision>
  <dcterms:created xsi:type="dcterms:W3CDTF">2026-06-11T09:37:25Z</dcterms:created>
  <dcterms:modified xsi:type="dcterms:W3CDTF">2026-07-06T05:53:10Z</dcterms:modified>
</cp:coreProperties>
</file>